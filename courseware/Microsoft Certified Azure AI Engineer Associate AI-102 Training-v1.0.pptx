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s.tertiaryinfotech.com" TargetMode="Externa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B981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02920"/>
            <a:ext cx="960120" cy="960120"/>
          </a:xfrm>
          <a:prstGeom prst="rect">
            <a:avLst/>
          </a:prstGeom>
        </p:spPr>
      </p:pic>
      <p:pic>
        <p:nvPicPr>
          <p:cNvPr id="6" name="Picture 5" descr="reference-cover-logo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530352"/>
            <a:ext cx="93839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2029968"/>
            <a:ext cx="107899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78608"/>
            <a:ext cx="9601200" cy="1325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3800" b="1">
                <a:solidFill>
                  <a:srgbClr val="111827"/>
                </a:solidFill>
                <a:latin typeface="Arial"/>
              </a:rPr>
              <a:t>Microsoft Certified Azure AI Engineer Associate AI-102 Training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133087"/>
            <a:ext cx="2423160" cy="64008"/>
          </a:xfrm>
          <a:prstGeom prst="rect">
            <a:avLst/>
          </a:prstGeom>
          <a:solidFill>
            <a:srgbClr val="10B981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480560"/>
            <a:ext cx="1078992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TGS Ref No: TGS-2023036651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846320"/>
            <a:ext cx="1078992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TSC: Artificial Intelligence Application in Product Development (ICT-TEM-4034-1.1)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212080"/>
            <a:ext cx="1078992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| UEN 201200696W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5138928"/>
            <a:ext cx="2606040" cy="493776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5257800"/>
            <a:ext cx="2240280" cy="21031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Arial"/>
              </a:rPr>
              <a:t>Version 1.0 | 13 Jul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46520"/>
            <a:ext cx="4754880" cy="20116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6446520"/>
            <a:ext cx="3474720" cy="20116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6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51760"/>
            <a:ext cx="10058400" cy="10058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3900" b="1">
                <a:solidFill>
                  <a:srgbClr val="111827"/>
                </a:solidFill>
                <a:latin typeface="Arial"/>
              </a:rPr>
              <a:t>Welcome and Housekeeping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TRAQOM /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Take AM, PM and Assessment digital attendance for WSQ-funded courses.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Scan the SSG portal QR code shown by the trainer or administrator.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Minimum 75% attendance is required for funding and assessment eligibility.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" y="1920240"/>
            <a:ext cx="3337560" cy="4206240"/>
          </a:xfrm>
          <a:prstGeom prst="rect">
            <a:avLst/>
          </a:prstGeom>
          <a:solidFill>
            <a:srgbClr val="F5F8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1832" y="1920240"/>
            <a:ext cx="3337560" cy="91440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5648" y="2414016"/>
            <a:ext cx="1572768" cy="15727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8568" y="2907792"/>
            <a:ext cx="566928" cy="34747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4370832"/>
            <a:ext cx="2697480" cy="31089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111827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4901184"/>
            <a:ext cx="2514600" cy="47548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1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920240"/>
            <a:ext cx="73152" cy="914400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90872" y="1920240"/>
            <a:ext cx="6949440" cy="914400"/>
          </a:xfrm>
          <a:prstGeom prst="rect">
            <a:avLst/>
          </a:prstGeom>
          <a:solidFill>
            <a:srgbClr val="F5F8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01184" y="2121408"/>
            <a:ext cx="630936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1184" y="2377440"/>
            <a:ext cx="6309360" cy="31089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3035808"/>
            <a:ext cx="73152" cy="914400"/>
          </a:xfrm>
          <a:prstGeom prst="rect">
            <a:avLst/>
          </a:prstGeom>
          <a:solidFill>
            <a:srgbClr val="10B981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90872" y="3035808"/>
            <a:ext cx="6949440" cy="914400"/>
          </a:xfrm>
          <a:prstGeom prst="rect">
            <a:avLst/>
          </a:prstGeom>
          <a:solidFill>
            <a:srgbClr val="F5F8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1184" y="3236976"/>
            <a:ext cx="630936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QUALIFICATIONS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1184" y="3493008"/>
            <a:ext cx="6309360" cy="31089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Arial"/>
              </a:rPr>
              <a:t>PhD - specialises in AI, automation and software engineering.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4151376"/>
            <a:ext cx="73152" cy="914400"/>
          </a:xfrm>
          <a:prstGeom prst="rect">
            <a:avLst/>
          </a:prstGeom>
          <a:solidFill>
            <a:srgbClr val="7C3AED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90872" y="4151376"/>
            <a:ext cx="6949440" cy="914400"/>
          </a:xfrm>
          <a:prstGeom prst="rect">
            <a:avLst/>
          </a:prstGeom>
          <a:solidFill>
            <a:srgbClr val="F5F8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01184" y="4352544"/>
            <a:ext cx="630936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DELIVERS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1184" y="4608576"/>
            <a:ext cx="6309360" cy="31089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Arial"/>
              </a:rPr>
              <a:t>WSQ courses on AI agents, automation (n8n) and app development.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5266944"/>
            <a:ext cx="73152" cy="914400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90872" y="5266944"/>
            <a:ext cx="6949440" cy="914400"/>
          </a:xfrm>
          <a:prstGeom prst="rect">
            <a:avLst/>
          </a:prstGeom>
          <a:solidFill>
            <a:srgbClr val="F5F8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01184" y="5468112"/>
            <a:ext cx="630936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FOUNDER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01184" y="5724144"/>
            <a:ext cx="6309360" cy="31089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585216"/>
            <a:ext cx="91440" cy="603504"/>
          </a:xfrm>
          <a:prstGeom prst="rect">
            <a:avLst/>
          </a:prstGeom>
          <a:solidFill>
            <a:srgbClr val="5B6372"/>
          </a:solidFill>
          <a:ln w="10160">
            <a:solidFill>
              <a:srgbClr val="5B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621792"/>
            <a:ext cx="8686800" cy="21945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YOUR TRAINER -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960120"/>
            <a:ext cx="8686800" cy="43891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499616"/>
            <a:ext cx="1092708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847088"/>
            <a:ext cx="3337560" cy="42245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847088"/>
            <a:ext cx="3337560" cy="91440"/>
          </a:xfrm>
          <a:prstGeom prst="rect">
            <a:avLst/>
          </a:prstGeom>
          <a:solidFill>
            <a:srgbClr val="5B6372"/>
          </a:solidFill>
          <a:ln w="10160">
            <a:solidFill>
              <a:srgbClr val="5B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19072" y="2340864"/>
            <a:ext cx="1572768" cy="1572768"/>
          </a:xfrm>
          <a:prstGeom prst="ellipse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67712" y="2788920"/>
            <a:ext cx="475488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315968"/>
            <a:ext cx="269748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900" b="1">
                <a:solidFill>
                  <a:srgbClr val="111827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4828032"/>
            <a:ext cx="237744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1">
                <a:solidFill>
                  <a:srgbClr val="5B6372"/>
                </a:solidFill>
                <a:latin typeface="Arial"/>
              </a:rPr>
              <a:t>General Trainer template -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847088"/>
            <a:ext cx="73152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90872" y="1847088"/>
            <a:ext cx="690372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9472" y="1993392"/>
            <a:ext cx="4114800" cy="20116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19472" y="2258568"/>
            <a:ext cx="4069080" cy="9144"/>
          </a:xfrm>
          <a:prstGeom prst="rect">
            <a:avLst/>
          </a:prstGeom>
          <a:solidFill>
            <a:srgbClr val="D6E1EF"/>
          </a:solidFill>
          <a:ln w="10160">
            <a:solidFill>
              <a:srgbClr val="D6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2578608"/>
            <a:ext cx="73152" cy="566928"/>
          </a:xfrm>
          <a:prstGeom prst="rect">
            <a:avLst/>
          </a:prstGeom>
          <a:solidFill>
            <a:srgbClr val="10B981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90872" y="2578608"/>
            <a:ext cx="690372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9472" y="2724912"/>
            <a:ext cx="4114800" cy="20116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19472" y="2990088"/>
            <a:ext cx="4069080" cy="9144"/>
          </a:xfrm>
          <a:prstGeom prst="rect">
            <a:avLst/>
          </a:prstGeom>
          <a:solidFill>
            <a:srgbClr val="D6E1EF"/>
          </a:solidFill>
          <a:ln w="10160">
            <a:solidFill>
              <a:srgbClr val="D6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17720" y="3310128"/>
            <a:ext cx="73152" cy="566928"/>
          </a:xfrm>
          <a:prstGeom prst="rect">
            <a:avLst/>
          </a:prstGeom>
          <a:solidFill>
            <a:srgbClr val="7C3AED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90872" y="3310128"/>
            <a:ext cx="690372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9472" y="3456432"/>
            <a:ext cx="4114800" cy="20116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19472" y="3721608"/>
            <a:ext cx="4069080" cy="9144"/>
          </a:xfrm>
          <a:prstGeom prst="rect">
            <a:avLst/>
          </a:prstGeom>
          <a:solidFill>
            <a:srgbClr val="D6E1EF"/>
          </a:solidFill>
          <a:ln w="10160">
            <a:solidFill>
              <a:srgbClr val="D6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17720" y="4041648"/>
            <a:ext cx="73152" cy="566928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90872" y="4041648"/>
            <a:ext cx="690372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9472" y="4187952"/>
            <a:ext cx="4114800" cy="20116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19472" y="4453128"/>
            <a:ext cx="4069080" cy="9144"/>
          </a:xfrm>
          <a:prstGeom prst="rect">
            <a:avLst/>
          </a:prstGeom>
          <a:solidFill>
            <a:srgbClr val="D6E1EF"/>
          </a:solidFill>
          <a:ln w="10160">
            <a:solidFill>
              <a:srgbClr val="D6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17720" y="4773168"/>
            <a:ext cx="73152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4773168"/>
            <a:ext cx="690372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19472" y="4919472"/>
            <a:ext cx="4114800" cy="20116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19472" y="5184648"/>
            <a:ext cx="4069080" cy="9144"/>
          </a:xfrm>
          <a:prstGeom prst="rect">
            <a:avLst/>
          </a:prstGeom>
          <a:solidFill>
            <a:srgbClr val="D6E1EF"/>
          </a:solidFill>
          <a:ln w="10160">
            <a:solidFill>
              <a:srgbClr val="D6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17720" y="5504688"/>
            <a:ext cx="73152" cy="566928"/>
          </a:xfrm>
          <a:prstGeom prst="rect">
            <a:avLst/>
          </a:prstGeom>
          <a:solidFill>
            <a:srgbClr val="10B981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90872" y="5504688"/>
            <a:ext cx="690372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19472" y="5650992"/>
            <a:ext cx="4114800" cy="20116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19472" y="5916168"/>
            <a:ext cx="4069080" cy="9144"/>
          </a:xfrm>
          <a:prstGeom prst="rect">
            <a:avLst/>
          </a:prstGeom>
          <a:solidFill>
            <a:srgbClr val="D6E1EF"/>
          </a:solidFill>
          <a:ln w="10160">
            <a:solidFill>
              <a:srgbClr val="D6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Your name and organisation or role.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Your experience with Azure or AI services.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Your goal for this AI-102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00784"/>
            <a:ext cx="73152" cy="1371600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1" y="1700784"/>
            <a:ext cx="5303520" cy="1371600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112264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231136"/>
            <a:ext cx="201168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39" y="2231136"/>
            <a:ext cx="3886200" cy="34747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1700784"/>
            <a:ext cx="73152" cy="1371600"/>
          </a:xfrm>
          <a:prstGeom prst="rect">
            <a:avLst/>
          </a:prstGeom>
          <a:solidFill>
            <a:srgbClr val="10B981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64224" y="1700784"/>
            <a:ext cx="5303520" cy="1371600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80" y="21122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231136"/>
            <a:ext cx="201168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2631" y="2231136"/>
            <a:ext cx="3886200" cy="34747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rial"/>
              </a:rPr>
              <a:t>Participate actively -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337560"/>
            <a:ext cx="73152" cy="1371600"/>
          </a:xfrm>
          <a:prstGeom prst="rect">
            <a:avLst/>
          </a:prstGeom>
          <a:solidFill>
            <a:srgbClr val="7C3AED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1" y="3337560"/>
            <a:ext cx="5303520" cy="1371600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749039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3867911"/>
            <a:ext cx="201168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39" y="3867911"/>
            <a:ext cx="3886200" cy="34747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3337560"/>
            <a:ext cx="73152" cy="1371600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64224" y="3337560"/>
            <a:ext cx="5303520" cy="1371600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83680" y="3749039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867911"/>
            <a:ext cx="201168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42631" y="3867911"/>
            <a:ext cx="3886200" cy="34747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974336"/>
            <a:ext cx="73152" cy="1371600"/>
          </a:xfrm>
          <a:prstGeom prst="rect">
            <a:avLst/>
          </a:prstGeom>
          <a:solidFill>
            <a:srgbClr val="E11D48"/>
          </a:solidFill>
          <a:ln w="1016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3231" y="4974336"/>
            <a:ext cx="5303520" cy="1371600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32688" y="5385816"/>
            <a:ext cx="566928" cy="566928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5504688"/>
            <a:ext cx="201168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39" y="5504688"/>
            <a:ext cx="3886200" cy="34747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91072" y="4974336"/>
            <a:ext cx="73152" cy="1371600"/>
          </a:xfrm>
          <a:prstGeom prst="rect">
            <a:avLst/>
          </a:prstGeom>
          <a:solidFill>
            <a:srgbClr val="0EA5E9"/>
          </a:solidFill>
          <a:ln w="1016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64224" y="4974336"/>
            <a:ext cx="5303520" cy="1371600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83680" y="5385816"/>
            <a:ext cx="566928" cy="56692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5504688"/>
            <a:ext cx="201168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42631" y="5504688"/>
            <a:ext cx="3886200" cy="34747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Lesson Plan - 2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5166360" cy="4343400"/>
          </a:xfrm>
          <a:prstGeom prst="rect">
            <a:avLst/>
          </a:prstGeom>
          <a:solidFill>
            <a:srgbClr val="F5F8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737360"/>
            <a:ext cx="5166360" cy="4343400"/>
          </a:xfrm>
          <a:prstGeom prst="rect">
            <a:avLst/>
          </a:prstGeom>
          <a:solidFill>
            <a:srgbClr val="F5F8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66344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66344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Planning, security, monitoring, responsible AI.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Generative AI, Foundry, Azure OpenAI, RAG.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Agentic AI and Foundry Agent Service.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Vision, video, NLP, speech, translation.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146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Custom language and question answering.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Azure AI Search, knowledge mining, vector search.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Document Intelligence and Content Understanding.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Capstone review and final assessment.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WSQ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Skills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TSC Title: Artificial Intelligence Application in Product Development.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TSC Code: ICT-TEM-4034-1.1.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Abilities: analyse algorithms, evaluate AI applications, assess feasibility and improvements.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Knowledge: AI applications, performance analysis, evaluation methods, algorithm design and implementation.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WHAT YOU WILL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Analyse Azure AI applications and establish their correlation with efficiency.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Identify and evaluate strengths and limitations of Microsoft Azure AI applications.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Assess feasibility and improvements when applying Azure AI to product and maintenance processes.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LAB-ALIGNED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Lab 01: Plan, Manage, Monitor, and Secure an Azure AI Solution</a:t>
            </a:r>
          </a:p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Lab 02: Responsible AI, Content Safety, Governance</a:t>
            </a:r>
          </a:p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Lab 03: Generative AI, Foundry, Azure OpenAI, Prompt Flow, RAG</a:t>
            </a:r>
          </a:p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Lab 04: Agentic AI, Foundry Agent Service, Multi-Agent Concepts</a:t>
            </a:r>
          </a:p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Lab 05: Computer Vision, Custom Vision, Video Insights</a:t>
            </a:r>
          </a:p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Lab 06: NLP, Language, Speech, Translation</a:t>
            </a:r>
          </a:p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Lab 07: Custom Language Models and Question Answering</a:t>
            </a:r>
          </a:p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Lab 08: Azure AI Search, Knowledge Mining, Vector Search</a:t>
            </a:r>
          </a:p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Lab 09: Document Intelligence and Content Understanding</a:t>
            </a:r>
          </a:p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Lab 10: AI-102 Capstone and Course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Written Assessment - Short-Answer Questions (WA-SAQ).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Practical Performance (PP).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Open book assessment: slides, Learner Guide and approved materials only.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Final assessment starts on Day 2 at 4:00 PM.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Place phones and other materials under the table or on the floor.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No photos or recording of assessment scripts.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No discussion during assessment.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Submit assessment scripts when time is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SSG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Criteria for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Minimum attendance rate of 75% based on SSG Digital Attendance record.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Complete the assessment and be assessed as Competent.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LMS / TMS and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LMS/TMS: https://lms-tms.tertiaryinfotech.com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Course labs: GitHub labs folder for TGS-2023036651.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Use the lab sequence in this deck, Learner Guide and Lesson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AI-102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51760"/>
            <a:ext cx="10058400" cy="10058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3900" b="1">
                <a:solidFill>
                  <a:srgbClr val="111827"/>
                </a:solidFill>
                <a:latin typeface="Arial"/>
              </a:rPr>
              <a:t>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886200"/>
            <a:ext cx="1005840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600" b="0">
                <a:solidFill>
                  <a:srgbClr val="5B6372"/>
                </a:solidFill>
                <a:latin typeface="Arial"/>
              </a:rPr>
              <a:t>Planning, responsible AI, generative AI, agents, vision and language.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01: Plan, Manage, Monitor, and Secure an Azure AI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Main topic: Planning and operations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Scenario: A company wants a customer support AI platform with document search, answer generation, sentiment analysis, speech transcription, and image processing. You must plan the Azure AI resources.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Validation: You should have a service map, security plan, monitoring plan, and architecture diagram.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WHAT YOU WILL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01: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Select appropriate Azure AI services.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Plan resource deployment and endpoints.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Identify authentication, keys, monitoring, and cost controls.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Prepare an AI solution architecture.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PLANNING AND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01: Imported Reference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ference-lab-01-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658368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828800"/>
            <a:ext cx="347472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1F6FEB"/>
                </a:solidFill>
                <a:latin typeface="Arial"/>
              </a:rPr>
              <a:t>How to use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377440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Connect the diagram to the lab scenario: A company wants a customer support AI platform with document search, answer generation, sentiment analysis, sp...</a:t>
            </a:r>
          </a:p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Use it as a reference while completing the design steps.</a:t>
            </a:r>
          </a:p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Imported from source PPT slide 25.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FOLLOW IN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01: Step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1. Map Requirements to Services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2. Plan Foundry Resources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3. Plan Security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4. Plan Monitoring and Cost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5. Draw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01 Step 1: Map Requirements to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Plan, Manage, Monitor, and Secure an Azure AI Solution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920240"/>
          <a:ext cx="10378440" cy="2752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9220"/>
                <a:gridCol w="5189220"/>
              </a:tblGrid>
              <a:tr h="3931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Requirement</a:t>
                      </a:r>
                    </a:p>
                  </a:txBody>
                  <a:tcPr marL="73152" marR="73152" marT="45720" marB="4572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Service</a:t>
                      </a:r>
                    </a:p>
                  </a:txBody>
                  <a:tcPr marL="73152" marR="73152" marT="45720" marB="45720">
                    <a:solidFill>
                      <a:srgbClr val="1F6FE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Generate responses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Azure OpenAI in Foundry Models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Search internal documents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Azure AI Search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Analyze sentiment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Azure AI Language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Transcribe calls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Azure AI Speech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Extract text from images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Azure AI Vision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Extract invoice fields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Azure AI Document Intelligence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01 Step 2: Plan Foundry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Plan, Manage, Monitor, and Secure an Azure AI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Document: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04288"/>
            <a:ext cx="10378440" cy="2121408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450592"/>
            <a:ext cx="9976104" cy="186537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onsolas"/>
              </a:rPr>
              <a:t>Hub or project name
Region
Model deployment
Default endpoint
Connected data source
Responsible AI settings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01 Step 3: Plan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Plan, Manage, Monitor, and Secure an Azure AI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Record: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276856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Role-based access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706624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15768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Managed identities.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136391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45535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Key protection.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3566159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75303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Private endpoint or network controls.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995927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05071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Logging and diagnostics.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4425695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434839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Secrets storage.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01 Step 4: Plan Monitoring and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Plan, Manage, Monitor, and Secure an Azure AI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Document: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04288"/>
            <a:ext cx="10378440" cy="2121408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450592"/>
            <a:ext cx="9976104" cy="186537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onsolas"/>
              </a:rPr>
              <a:t>Token or transaction usage
Latency
Errors
Content safety events
Budget alerts
Diagnostic logs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01 Step 5: Draw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Plan, Manage, Monitor, and Secure an Azure AI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Use diagrams.net: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04288"/>
            <a:ext cx="10378440" cy="749808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450592"/>
            <a:ext cx="9976104" cy="49377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onsolas"/>
              </a:rPr>
              <a:t>Application -&gt; API layer -&gt; Foundry/Azure AI services -&gt; Search index/storage -&gt; Monitoring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01: Validation and Checkpoints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You should have a service map, security plan, monitoring plan, and architecture diagram.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Why is service selection part of AI engineering?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Why should keys be protected?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What should be monitored in an AI service?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What is the role of responsible AI planning?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02: Responsible AI, Content Safety,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Main topic: Responsible AI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Scenario: The support AI assistant may receive abusive user input, produce inaccurate answers, or expose sensitive data. You must design responsible AI controls.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Validation: You should have responsible AI controls, safety policy, scenario decisions, and incident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WHAT YOU WILL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02: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Apply responsible AI principles.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Configure content safety concepts.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Explain content filters, blocklists, prompt shields, and harm detection.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Design a responsible AI governance framework.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RESPONSIBLE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02: Lab Alignment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1F6FEB"/>
                </a:solidFill>
                <a:latin typeface="Arial"/>
              </a:rPr>
              <a:t>Lab-aligned design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423160"/>
            <a:ext cx="1870862" cy="731520"/>
          </a:xfrm>
          <a:prstGeom prst="rect">
            <a:avLst/>
          </a:prstGeom>
          <a:solidFill>
            <a:srgbClr val="F5F8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2587752"/>
            <a:ext cx="1651406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6974" y="2624328"/>
            <a:ext cx="201168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4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95574" y="2423160"/>
            <a:ext cx="1870862" cy="731520"/>
          </a:xfrm>
          <a:prstGeom prst="rect">
            <a:avLst/>
          </a:prstGeom>
          <a:solidFill>
            <a:srgbClr val="F5F8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5302" y="2587752"/>
            <a:ext cx="1651406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Arial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3868" y="2624328"/>
            <a:ext cx="201168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4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2468" y="2423160"/>
            <a:ext cx="1870862" cy="731520"/>
          </a:xfrm>
          <a:prstGeom prst="rect">
            <a:avLst/>
          </a:prstGeom>
          <a:solidFill>
            <a:srgbClr val="F5F8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2196" y="2587752"/>
            <a:ext cx="1651406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Arial"/>
              </a:rPr>
              <a:t>Configure /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0763" y="2624328"/>
            <a:ext cx="201168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4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49363" y="2423160"/>
            <a:ext cx="1870862" cy="731520"/>
          </a:xfrm>
          <a:prstGeom prst="rect">
            <a:avLst/>
          </a:prstGeom>
          <a:solidFill>
            <a:srgbClr val="F5F8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9091" y="2587752"/>
            <a:ext cx="1651406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Arial"/>
              </a:rP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7657" y="2624328"/>
            <a:ext cx="201168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4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76257" y="2423160"/>
            <a:ext cx="1870862" cy="731520"/>
          </a:xfrm>
          <a:prstGeom prst="rect">
            <a:avLst/>
          </a:prstGeom>
          <a:solidFill>
            <a:srgbClr val="F5F8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85985" y="2587752"/>
            <a:ext cx="1651406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Arial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429000"/>
            <a:ext cx="182880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429000"/>
            <a:ext cx="8641080" cy="6858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Arial"/>
              </a:rPr>
              <a:t>The support AI assistant may receive abusive user input, produce inaccurate answers, or expose sensitive data. You must design responsible AI controls.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389120"/>
            <a:ext cx="182880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4343400"/>
            <a:ext cx="8641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11827"/>
                </a:solidFill>
                <a:latin typeface="Arial"/>
              </a:defRPr>
            </a:pPr>
            <a:r>
              <a:t>Review Responsible AI Principles</a:t>
            </a:r>
          </a:p>
          <a:p>
            <a:pPr>
              <a:spcAft>
                <a:spcPts val="800"/>
              </a:spcAft>
              <a:defRPr sz="1100">
                <a:solidFill>
                  <a:srgbClr val="111827"/>
                </a:solidFill>
                <a:latin typeface="Arial"/>
              </a:defRPr>
            </a:pPr>
            <a:r>
              <a:t>Define Content Safety Controls</a:t>
            </a:r>
          </a:p>
          <a:p>
            <a:pPr>
              <a:spcAft>
                <a:spcPts val="800"/>
              </a:spcAft>
              <a:defRPr sz="1100">
                <a:solidFill>
                  <a:srgbClr val="111827"/>
                </a:solidFill>
                <a:latin typeface="Arial"/>
              </a:defRPr>
            </a:pPr>
            <a:r>
              <a:t>Create a Safety Policy</a:t>
            </a:r>
          </a:p>
          <a:p>
            <a:pPr>
              <a:spcAft>
                <a:spcPts val="800"/>
              </a:spcAft>
              <a:defRPr sz="1100">
                <a:solidFill>
                  <a:srgbClr val="111827"/>
                </a:solidFill>
                <a:latin typeface="Arial"/>
              </a:defRPr>
            </a:pPr>
            <a:r>
              <a:t>Test Governance Scenarios</a:t>
            </a:r>
          </a:p>
          <a:p>
            <a:pPr>
              <a:spcAft>
                <a:spcPts val="800"/>
              </a:spcAft>
              <a:defRPr sz="1100">
                <a:solidFill>
                  <a:srgbClr val="111827"/>
                </a:solidFill>
                <a:latin typeface="Arial"/>
              </a:defRPr>
            </a:pPr>
            <a:r>
              <a:t>Create an Incident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69280"/>
            <a:ext cx="182880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5669280"/>
            <a:ext cx="864108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You should have responsible AI controls, safety policy, scenario decisions, and incident plan.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FOLLOW IN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02: Step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1. Review Responsible AI Principles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2. Define Content Safety Controls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3. Create a Safety Policy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4. Test Governance Scenarios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5. Create an Incident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02 Step 1: Review Responsible AI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Responsible AI, Content Safety,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Write one control for: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04288"/>
            <a:ext cx="10378440" cy="2121408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450592"/>
            <a:ext cx="9976104" cy="186537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onsolas"/>
              </a:rPr>
              <a:t>Fairness
Reliability and safety
Privacy and security
Inclusiveness
Transparency
Accountability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02 Step 2: Define Content Safety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Responsible AI, Content Safety,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Document: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276856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Harm categories.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706624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15768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Severity levels.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136391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45535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Content filters.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3566159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75303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Blocklists.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995927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05071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Prompt shields.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4425695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434839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Groundedness checks.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855463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864607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Human escalation rules.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02 Step 3: Create a Safety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Responsible AI, Content Safety,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Write: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04288"/>
            <a:ext cx="10378440" cy="2423160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450592"/>
            <a:ext cx="9976104" cy="21671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onsolas"/>
              </a:rPr>
              <a:t>Allowed use:
Disallowed use:
Blocked content:
Human review trigger:
Audit log requirement:
Escalation owner:
Review frequency: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02 Step 4: Test Governance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Responsible AI, Content Safety,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Decide what should happen when: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276856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User asks for harmful instructions.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706624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15768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Model produces low-confidence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136391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45535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Prompt contains personal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3566159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75303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Retrieved document is outdated.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995927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05071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User asks for legal advice.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02 Step 5: Create an Incident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Responsible AI, Content Safety,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Define how to report, investigate, remediate, and prevent repeat AI safety incidents.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02: Validation and Checkpoints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You should have responsible AI controls, safety policy, scenario decisions, and incident plan.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What are content filters?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What is a prompt shield?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Why is human escalation important?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Who is accountable for AI output?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03: Generative AI, Foundry, Azure OpenAI, Prompt Flow, RAG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Main topic: Generative AI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Scenario: The company wants a grounded assistant that answers questions from internal support articles and generates draft replies.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Validation: You should have model selection notes, prompt templates, prompt flow diagram, RAG design, and evaluation 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WHAT YOU WILL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03: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Plan a generative AI solution with Microsoft Foundry.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Select and deploy a model conceptually.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Design prompt templates and prompt flow.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Implement a RAG pattern conceptually.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Evaluate model and flow outputs.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GENERATIVE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03: Imported Reference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ference-lab-03-slide-3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658368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828800"/>
            <a:ext cx="347472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1F6FEB"/>
                </a:solidFill>
                <a:latin typeface="Arial"/>
              </a:rPr>
              <a:t>How to use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377440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Connect the diagram to the lab scenario: The company wants a grounded assistant that answers questions from internal support articles and generates dra...</a:t>
            </a:r>
          </a:p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Use it as a reference while completing the design steps.</a:t>
            </a:r>
          </a:p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Imported from source PPT slide 309.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FOLLOW IN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03: Step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1. Select a Model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2. Design Prompt Templates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3. Plan Prompt Flow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4. Design RAG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5. Evaluate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03 Step 1: Select a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Generative AI, Foundry, Azure OpenAI, Prompt Flow,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Record: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04288"/>
            <a:ext cx="10378440" cy="2423160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450592"/>
            <a:ext cx="9976104" cy="21671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onsolas"/>
              </a:rPr>
              <a:t>Model name
Use case fit
Context window
Latency
Cost
Safety settings
Deployment option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03 Step 2: Design Prompt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Generative AI, Foundry, Azure OpenAI, Prompt Flow,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Create templates for: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276856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Direct answer.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706624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15768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Answer with sources.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136391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45535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Escalation when context is missing.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03 Step 3: Plan Prompt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Generative AI, Foundry, Azure OpenAI, Prompt Flow,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Draw: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04288"/>
            <a:ext cx="10378440" cy="749808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450592"/>
            <a:ext cx="9976104" cy="49377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onsolas"/>
              </a:rPr>
              <a:t>User question -&gt; classify intent -&gt; retrieve context -&gt; prompt template -&gt; model -&gt; safety check -&gt; response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03 Step 4: Design RAG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Generative AI, Foundry, Azure OpenAI, Prompt Flow,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Document: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276856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Source documents.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706624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15768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Cleaning.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136391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45535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Chunking.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3566159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75303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Embeddings.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995927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05071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Vector store.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4425695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434839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Retrieval filters.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855463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864607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Citation format.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5285231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294375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Evaluation method.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03 Step 5: Evaluate Outputs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Generative AI, Foundry, Azure OpenAI, Prompt Flow,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Score: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68680" y="2304288"/>
          <a:ext cx="1037844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9220"/>
                <a:gridCol w="5189220"/>
              </a:tblGrid>
              <a:tr h="3931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Criterion</a:t>
                      </a:r>
                    </a:p>
                  </a:txBody>
                  <a:tcPr marL="73152" marR="73152" marT="45720" marB="4572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Score 1-5</a:t>
                      </a:r>
                    </a:p>
                  </a:txBody>
                  <a:tcPr marL="73152" marR="73152" marT="45720" marB="45720">
                    <a:solidFill>
                      <a:srgbClr val="1F6FE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Correctness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Grounding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Helpfulness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Safety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Conciseness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03: Validation and Checkpoints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You should have model selection notes, prompt templates, prompt flow diagram, RAG design, and evaluation table.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What is RAG?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Why are prompt templates useful?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What does tracing help debug?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How can feedback improve a generative AI solution?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04: Agentic AI, Foundry Agent Service, Multi-Agent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Main topic: Agents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Scenario: The support AI assistant needs to look up order status, search support documents, draft a reply, and escalate complex cases to a human agent.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Validation: You should have agent use case, resource plan, tool table, orchestration diagram, and multi-agent notes.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WHAT YOU WILL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04: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Explain agent roles and use cases.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Plan Foundry Agent Service resources.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Design custom agent tools and workflows.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Review multi-agent orchestration concepts.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04: Lab Alignment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1F6FEB"/>
                </a:solidFill>
                <a:latin typeface="Arial"/>
              </a:rPr>
              <a:t>Lab-aligned design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423160"/>
            <a:ext cx="1870862" cy="731520"/>
          </a:xfrm>
          <a:prstGeom prst="rect">
            <a:avLst/>
          </a:prstGeom>
          <a:solidFill>
            <a:srgbClr val="F5F8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2587752"/>
            <a:ext cx="1651406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6974" y="2624328"/>
            <a:ext cx="201168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4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95574" y="2423160"/>
            <a:ext cx="1870862" cy="731520"/>
          </a:xfrm>
          <a:prstGeom prst="rect">
            <a:avLst/>
          </a:prstGeom>
          <a:solidFill>
            <a:srgbClr val="F5F8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5302" y="2587752"/>
            <a:ext cx="1651406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Arial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3868" y="2624328"/>
            <a:ext cx="201168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4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2468" y="2423160"/>
            <a:ext cx="1870862" cy="731520"/>
          </a:xfrm>
          <a:prstGeom prst="rect">
            <a:avLst/>
          </a:prstGeom>
          <a:solidFill>
            <a:srgbClr val="F5F8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2196" y="2587752"/>
            <a:ext cx="1651406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Arial"/>
              </a:rPr>
              <a:t>Configure /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0763" y="2624328"/>
            <a:ext cx="201168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4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49363" y="2423160"/>
            <a:ext cx="1870862" cy="731520"/>
          </a:xfrm>
          <a:prstGeom prst="rect">
            <a:avLst/>
          </a:prstGeom>
          <a:solidFill>
            <a:srgbClr val="F5F8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9091" y="2587752"/>
            <a:ext cx="1651406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Arial"/>
              </a:rP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7657" y="2624328"/>
            <a:ext cx="201168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400" b="1">
                <a:solidFill>
                  <a:srgbClr val="1F6FEB"/>
                </a:solidFill>
                <a:latin typeface="Arial"/>
              </a:rPr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76257" y="2423160"/>
            <a:ext cx="1870862" cy="731520"/>
          </a:xfrm>
          <a:prstGeom prst="rect">
            <a:avLst/>
          </a:prstGeom>
          <a:solidFill>
            <a:srgbClr val="F5F8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85985" y="2587752"/>
            <a:ext cx="1651406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Arial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429000"/>
            <a:ext cx="182880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429000"/>
            <a:ext cx="8641080" cy="6858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Arial"/>
              </a:rPr>
              <a:t>The support AI assistant needs to look up order status, search support documents, draft a reply, and escalate complex cases to a human agent.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389120"/>
            <a:ext cx="182880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4343400"/>
            <a:ext cx="8641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11827"/>
                </a:solidFill>
                <a:latin typeface="Arial"/>
              </a:defRPr>
            </a:pPr>
            <a:r>
              <a:t>Define Agent Use Case</a:t>
            </a:r>
          </a:p>
          <a:p>
            <a:pPr>
              <a:spcAft>
                <a:spcPts val="800"/>
              </a:spcAft>
              <a:defRPr sz="1100">
                <a:solidFill>
                  <a:srgbClr val="111827"/>
                </a:solidFill>
                <a:latin typeface="Arial"/>
              </a:defRPr>
            </a:pPr>
            <a:r>
              <a:t>Plan Agent Resources</a:t>
            </a:r>
          </a:p>
          <a:p>
            <a:pPr>
              <a:spcAft>
                <a:spcPts val="800"/>
              </a:spcAft>
              <a:defRPr sz="1100">
                <a:solidFill>
                  <a:srgbClr val="111827"/>
                </a:solidFill>
                <a:latin typeface="Arial"/>
              </a:defRPr>
            </a:pPr>
            <a:r>
              <a:t>Design Tool Calls</a:t>
            </a:r>
          </a:p>
          <a:p>
            <a:pPr>
              <a:spcAft>
                <a:spcPts val="800"/>
              </a:spcAft>
              <a:defRPr sz="1100">
                <a:solidFill>
                  <a:srgbClr val="111827"/>
                </a:solidFill>
                <a:latin typeface="Arial"/>
              </a:defRPr>
            </a:pPr>
            <a:r>
              <a:t>Design Orchestration</a:t>
            </a:r>
          </a:p>
          <a:p>
            <a:pPr>
              <a:spcAft>
                <a:spcPts val="800"/>
              </a:spcAft>
              <a:defRPr sz="1100">
                <a:solidFill>
                  <a:srgbClr val="111827"/>
                </a:solidFill>
                <a:latin typeface="Arial"/>
              </a:defRPr>
            </a:pPr>
            <a:r>
              <a:t>Multi-Agent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69280"/>
            <a:ext cx="182880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5669280"/>
            <a:ext cx="864108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You should have agent use case, resource plan, tool table, orchestration diagram, and multi-agent notes.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FOLLOW IN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04: Step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1. Define Agent Use Case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2. Plan Agent Resources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3. Design Tool Calls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4. Design Orchestration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5. Multi-Agent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04 Step 1: Define Agent Use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Agentic AI, Foundry Agent Service, Multi-Agent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Write: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04288"/>
            <a:ext cx="10378440" cy="2121408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450592"/>
            <a:ext cx="9976104" cy="186537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onsolas"/>
              </a:rPr>
              <a:t>Agent goal:
User types:
Allowed tools:
Disallowed actions:
Human escalation trigger:
Success metric: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04 Step 2: Plan Agent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Agentic AI, Foundry Agent Service, Multi-Agent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Document: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276856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Foundry project.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706624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15768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Model deployment.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136391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45535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Search tool.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3566159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75303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Function or API tools.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995927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05071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Authentication.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4425695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434839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Logging and trace settings.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04 Step 3: Design Tool Calls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Agentic AI, Foundry Agent Service, Multi-Agent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Create a table: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68680" y="2304288"/>
          <a:ext cx="10378440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4610"/>
                <a:gridCol w="2594610"/>
                <a:gridCol w="2594610"/>
                <a:gridCol w="2594610"/>
              </a:tblGrid>
              <a:tr h="3931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Tool</a:t>
                      </a:r>
                    </a:p>
                  </a:txBody>
                  <a:tcPr marL="73152" marR="73152" marT="45720" marB="4572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Purpose</a:t>
                      </a:r>
                    </a:p>
                  </a:txBody>
                  <a:tcPr marL="73152" marR="73152" marT="45720" marB="4572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Input</a:t>
                      </a:r>
                    </a:p>
                  </a:txBody>
                  <a:tcPr marL="73152" marR="73152" marT="45720" marB="4572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Output</a:t>
                      </a:r>
                    </a:p>
                  </a:txBody>
                  <a:tcPr marL="73152" marR="73152" marT="45720" marB="45720">
                    <a:solidFill>
                      <a:srgbClr val="1F6FE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Search knowledge base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Retrieve support articles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Query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Relevant passages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Order lookup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Get order status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Order ID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Status summary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04 Step 4: Design Orchestration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Agentic AI, Foundry Agent Service, Multi-Agent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Draw: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04288"/>
            <a:ext cx="10378440" cy="749808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450592"/>
            <a:ext cx="9976104" cy="49377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onsolas"/>
              </a:rPr>
              <a:t>User request -&gt; agent plan -&gt; tool call -&gt; observation -&gt; model reasoning -&gt; response -&gt;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04 Step 5: Multi-Agent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Agentic AI, Foundry Agent Service, Multi-Agent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Explain when separate agents might be useful for retrieval, billing, technical support, and escalation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04: Validation and Checkpoints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You should have agent use case, resource plan, tool table, orchestration diagram, and multi-agent notes.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What is an AI agent?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Why do agents need tool permissions?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What is orchestration?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Why should autonomous actions be constrained?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05: Computer Vision, Custom Vision, Video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Main topic: Vision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Scenario: The company wants to inspect product photos, detect damaged items, read text from images, and extract insights from product demo videos.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Validation: You should have vision mapping, request plan, custom vision plan, video insight notes, and responsible AI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WHAT YOU WILL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05: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Analyze images with Azure AI Vision concepts.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Select visual features for image processing requirements.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Compare image classification and object detection.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Plan custom vision training.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Explain video insight scenarios.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05: Imported Reference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ference-lab-05-slide-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658368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828800"/>
            <a:ext cx="347472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1F6FEB"/>
                </a:solidFill>
                <a:latin typeface="Arial"/>
              </a:rPr>
              <a:t>How to use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377440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Connect the diagram to the lab scenario: The company wants to inspect product photos, detect damaged items, read text from images, and extract insights...</a:t>
            </a:r>
          </a:p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Use it as a reference while completing the design steps.</a:t>
            </a:r>
          </a:p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Imported from source PPT slide 73.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FOLLOW IN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05: Step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1. Map Vision Requirements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2. Plan an Image Request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3. Custom Vision Plan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4. Video Insights Plan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5. Responsible AI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05 Step 1: Map Vision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Computer Vision, Custom Vision, Video Insights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920240"/>
          <a:ext cx="1037844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9220"/>
                <a:gridCol w="5189220"/>
              </a:tblGrid>
              <a:tr h="3931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Requirement</a:t>
                      </a:r>
                    </a:p>
                  </a:txBody>
                  <a:tcPr marL="73152" marR="73152" marT="45720" marB="4572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Vision Capability</a:t>
                      </a:r>
                    </a:p>
                  </a:txBody>
                  <a:tcPr marL="73152" marR="73152" marT="45720" marB="45720">
                    <a:solidFill>
                      <a:srgbClr val="1F6FE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Generate image tags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Image analysis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Detect product locations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Object detection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Read text from photos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OCR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Classify product condition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Image classification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Extract video topics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Video insights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05 Step 2: Plan an Image Request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Computer Vision, Custom Vision, Video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Document: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04288"/>
            <a:ext cx="10378440" cy="2121408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450592"/>
            <a:ext cx="9976104" cy="186537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onsolas"/>
              </a:rPr>
              <a:t>Image source
Visual features
Language
Expected response fields
Error handling
Privacy considerations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05 Step 3: Custom Vision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Computer Vision, Custom Vision, Video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Choose: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68680" y="2304288"/>
          <a:ext cx="10378440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9220"/>
                <a:gridCol w="5189220"/>
              </a:tblGrid>
              <a:tr h="3931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Need</a:t>
                      </a:r>
                    </a:p>
                  </a:txBody>
                  <a:tcPr marL="73152" marR="73152" marT="45720" marB="4572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Type</a:t>
                      </a:r>
                    </a:p>
                  </a:txBody>
                  <a:tcPr marL="73152" marR="73152" marT="45720" marB="45720">
                    <a:solidFill>
                      <a:srgbClr val="1F6FE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One label for each image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Image classification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Locate multiple objects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Object detection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68680" y="3630168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Document image labels, training images, evaluation metrics, publishing, and consumption.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05 Step 4: Video Insights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Computer Vision, Custom Vision, Video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Explain how Video Indexer can extract: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276856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Transcript.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706624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15768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Keywords.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136391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45535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Faces or speakers where appropriate.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3566159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75303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Topics.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995927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05071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Scenes.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05 Step 5: Responsible AI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Computer Vision, Custom Vision, Video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Document consent, retention, face analysis sensitivity, and human review needs.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05: Validation and Checkpoints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You should have vision mapping, request plan, custom vision plan, video insight notes, and responsible AI review.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What is OCR?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How is object detection different from classification?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What does a custom vision model require?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Why is video analysis sensitive?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06: NLP, Language, Speech, Translation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Main topic: Language and speech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Scenario: The support platform must analyze customer messages, detect PII, translate text, transcribe calls, and generate spoken responses.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Validation: You should have language task mapping, text pipeline, speech pipeline, SSML notes, and translation notes.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WHAT YOU WILL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06: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Analyze and translate text.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Extract key phrases, entities, PII, language, and sentiment.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Process speech with speech-to-text and text-to-speech.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Plan translation and SSML 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LANGUAGE AND SPEECH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06: Imported Reference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ference-lab-06-slide-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658368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828800"/>
            <a:ext cx="347472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1F6FEB"/>
                </a:solidFill>
                <a:latin typeface="Arial"/>
              </a:rPr>
              <a:t>How to use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377440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Connect the diagram to the lab scenario: The support platform must analyze customer messages, detect PII, translate text, transcribe calls, and generat...</a:t>
            </a:r>
          </a:p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Use it as a reference while completing the design steps.</a:t>
            </a:r>
          </a:p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Imported from source PPT slide 61.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FOLLOW IN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06: Step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1. Map Language Tasks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2. Design Text Analysis Pipeline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3. Design Speech Pipeline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4. SSML Review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5. Translation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06 Step 1: Map Language Tasks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NLP, Language, Speech, Translation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920240"/>
          <a:ext cx="10378440" cy="2752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9220"/>
                <a:gridCol w="5189220"/>
              </a:tblGrid>
              <a:tr h="3931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73152" marR="73152" marT="45720" marB="4572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Capability</a:t>
                      </a:r>
                    </a:p>
                  </a:txBody>
                  <a:tcPr marL="73152" marR="73152" marT="45720" marB="45720">
                    <a:solidFill>
                      <a:srgbClr val="1F6FE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Identify customer sentiment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Sentiment analysis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Extract product names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Entity recognition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Identify important topics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Key phrase extraction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Detect personal data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PII detection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Detect message language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Language detection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Translate message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Translator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06 Step 2: Design Text Analysis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NLP, Language, Speech, Translation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920240"/>
            <a:ext cx="10378440" cy="749808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066544"/>
            <a:ext cx="9976104" cy="49377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onsolas"/>
              </a:rPr>
              <a:t>Input text -&gt; language detection -&gt; PII detection -&gt; sentiment -&gt; entities -&gt; key phrases -&gt; route 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06 Step 3: Design Speech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NLP, Language, Speech, Translation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920240"/>
            <a:ext cx="10378440" cy="749808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066544"/>
            <a:ext cx="9976104" cy="49377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onsolas"/>
              </a:rPr>
              <a:t>Audio input -&gt; speech to text -&gt; intent or keyword recognition -&gt; response -&gt; text to speech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06 Step 4: SSML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NLP, Language, Speech, Translation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Explain how SSML can control voice, pitch, rate, pauses, and pronunciation.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06 Step 5: Translation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NLP, Language, Speech, Translation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Document: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276856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Text translation.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706624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15768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Document translation.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136391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45535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Speech-to-text translation.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3566159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75303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Speech-to-speech translation.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995927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05071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Human review for critical messages.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06: Validation and Checkpoints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You should have language task mapping, text pipeline, speech pipeline, SSML notes, and translation notes.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What is entity recognition?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Why detect PII before storing text?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What is SSML?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When should translation outputs be reviewed?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AI-102 INTEGRATION AND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51760"/>
            <a:ext cx="10058400" cy="10058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3900" b="1">
                <a:solidFill>
                  <a:srgbClr val="111827"/>
                </a:solidFill>
                <a:latin typeface="Arial"/>
              </a:rPr>
              <a:t>Day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886200"/>
            <a:ext cx="1005840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600" b="0">
                <a:solidFill>
                  <a:srgbClr val="5B6372"/>
                </a:solidFill>
                <a:latin typeface="Arial"/>
              </a:rPr>
              <a:t>Custom language, search, document intelligence, capstone and assessment.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07: Custom Language Models and Question Answering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Main topic: Custom language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Scenario: The support assistant must recognize customer intents and answer frequently asked questions from approved sources.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Validation: You should have intent/entity table, training plan, question answering plan, multilingual strategy, and backup notes.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WHAT YOU WILL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07: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Design custom language understanding.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Define intents, entities, and utterances.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Plan custom question answering.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Create a multilingual question answering strategy.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CUSTOM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07: Imported Reference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ference-lab-07-slide-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658368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828800"/>
            <a:ext cx="347472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1F6FEB"/>
                </a:solidFill>
                <a:latin typeface="Arial"/>
              </a:rPr>
              <a:t>How to use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377440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Connect the diagram to the lab scenario: The support assistant must recognize customer intents and answer frequently asked questions from approved sour...</a:t>
            </a:r>
          </a:p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Use it as a reference while completing the design steps.</a:t>
            </a:r>
          </a:p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Imported from source PPT slide 149.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FOLLOW IN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07: Step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1. Define Intents and Entities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2. Plan Training Data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3. Plan Custom Question Answering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4. Multilingual Strategy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5. Backup and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07 Step 1: Define Intents and Entities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Custom Language Models and Question Answering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Create a table: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68680" y="2304288"/>
          <a:ext cx="10378440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9480"/>
                <a:gridCol w="3459480"/>
                <a:gridCol w="3459480"/>
              </a:tblGrid>
              <a:tr h="3931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Intent</a:t>
                      </a:r>
                    </a:p>
                  </a:txBody>
                  <a:tcPr marL="73152" marR="73152" marT="45720" marB="4572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Example Utterance</a:t>
                      </a:r>
                    </a:p>
                  </a:txBody>
                  <a:tcPr marL="73152" marR="73152" marT="45720" marB="4572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Entities</a:t>
                      </a:r>
                    </a:p>
                  </a:txBody>
                  <a:tcPr marL="73152" marR="73152" marT="45720" marB="45720">
                    <a:solidFill>
                      <a:srgbClr val="1F6FE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CheckOrderStatus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Where is order 12345?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order number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RequestRefund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I want a refund for my laptop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product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07 Step 2: Plan Training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Custom Language Models and Question Answering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Document: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276856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Number of example utterances.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706624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15768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Balanced examples across intents.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136391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45535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Entity labeling rules.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3566159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75303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Test set.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995927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05071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Ambiguous utterances.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07 Step 3: Plan Custom Question Answering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Custom Language Models and Question Answering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Record: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04288"/>
            <a:ext cx="10378440" cy="2423160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450592"/>
            <a:ext cx="9976104" cy="21671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onsolas"/>
              </a:rPr>
              <a:t>Knowledge sources
Q&amp;A pairs
Alternate phrasing
Chit-chat
Multi-turn prompts
Publishing target
Fallback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07 Step 4: Multilingual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Custom Language Models and Question Answering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Explain whether to translate sources, create separate projects, or translate user input before answering.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07 Step 5: Backup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Custom Language Models and Question Answering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Document export, versioning, backup, and recovery of language projects.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07: Validation and Checkpoints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You should have intent/entity table, training plan, question answering plan, multilingual strategy, and backup notes.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What is an intent?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What is an entity?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Why add alternate phrasing?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Why should language projects be backed up?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08: Azure AI Search, Knowledge Mining, Vector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Main topic: Search and mining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Scenario: The company wants searchable support documents, enriched with extracted text, entities, key phrases, and vector embeddings for RAG.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Validation: You should have index design, data source/indexer plan, skillset plan, query examples, and knowledge store notes.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WHAT YOU WILL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08: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Design an Azure AI Search solution.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Define indexes, data sources, indexers, and skillsets.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Explain semantic and vector search.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Plan knowledge store projections.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SEARCH AND MINING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08: Imported Reference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ference-lab-08-slide-3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658368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828800"/>
            <a:ext cx="347472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1F6FEB"/>
                </a:solidFill>
                <a:latin typeface="Arial"/>
              </a:rPr>
              <a:t>How to use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377440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Connect the diagram to the lab scenario: The company wants searchable support documents, enriched with extracted text, entities, key phrases, and vecto...</a:t>
            </a:r>
          </a:p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Use it as a reference while completing the design steps.</a:t>
            </a:r>
          </a:p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Imported from source PPT slide 380.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FOLLOW IN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08: Step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1. Design an Index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2. Plan Data Sources and Indexers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3. Define a Skillset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4. Query Design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5. Knowledge Store Projections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08 Step 1: Design an 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Azure AI Search, Knowledge Mining, Vector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Define fields: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04288"/>
            <a:ext cx="10378440" cy="2468880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450592"/>
            <a:ext cx="9976104" cy="221284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onsolas"/>
              </a:rPr>
              <a:t>id
title
content
category
source_url
last_updated
security_label
embedding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08 Step 2: Plan Data Sources and Indexers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Azure AI Search, Knowledge Mining, Vector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Document: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276856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Source storage.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706624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15768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Supported document formats.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136391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45535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Indexer schedule.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3566159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75303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Change detection.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995927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05071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Error handling.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08 Step 3: Define a Skillset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Azure AI Search, Knowledge Mining, Vector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Include: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276856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OCR.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706624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15768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Language detection.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136391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45535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Entity extraction.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3566159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75303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Key phrase extraction.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995927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05071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Custom skill.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4425695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434839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Embedding generation.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08 Step 4: Query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Azure AI Search, Knowledge Mining, Vector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Write examples for: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04288"/>
            <a:ext cx="10378440" cy="2423160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450592"/>
            <a:ext cx="9976104" cy="21671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onsolas"/>
              </a:rPr>
              <a:t>Keyword search
Filter by category
Sort by last updated
Wildcard query
Semantic ranking
Vector search
Hybrid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08 Step 5: Knowledge Store Projections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Azure AI Search, Knowledge Mining, Vector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Explain file, object, and table projections and when enriched output should be stored.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08: Validation and Checkpoints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You should have index design, data source/indexer plan, skillset plan, query examples, and knowledge store notes.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What is an indexer?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What is a skillset?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What is vector search?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Why use semantic ranking?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09: Document Intelligence and Content Understanding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Main topic: Document AI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Scenario: The company processes invoices, contracts, support screenshots, audio notes, and product videos. It wants to extract structured information from multiple content types.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Validation: You should have scenario mapping, custom model plan, content understanding plan, review rules, and integration 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WHAT YOU WILL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09: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Use prebuilt document extraction concepts.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Plan custom Document Intelligence models.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Explain composed models.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Design Content Understanding extraction workflows.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DOCUMENT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09: Imported Reference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ference-lab-09-slide-5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658368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828800"/>
            <a:ext cx="347472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1F6FEB"/>
                </a:solidFill>
                <a:latin typeface="Arial"/>
              </a:rPr>
              <a:t>How to use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377440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Connect the diagram to the lab scenario: The company processes invoices, contracts, support screenshots, audio notes, and product videos. It wants to e...</a:t>
            </a:r>
          </a:p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Use it as a reference while completing the design steps.</a:t>
            </a:r>
          </a:p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Imported from source PPT slide 532.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FOLLOW IN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09: Step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1. Map Document Scenarios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2. Custom Document Model Plan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3. Content Understanding Plan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4. Human Review Rules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5. Integration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09 Step 1: Map Document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Document Intelligence and Content Understanding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920240"/>
          <a:ext cx="1037844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9220"/>
                <a:gridCol w="5189220"/>
              </a:tblGrid>
              <a:tr h="3931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73152" marR="73152" marT="45720" marB="4572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Capability</a:t>
                      </a:r>
                    </a:p>
                  </a:txBody>
                  <a:tcPr marL="73152" marR="73152" marT="45720" marB="45720">
                    <a:solidFill>
                      <a:srgbClr val="1F6FE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Extract invoice fields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Prebuilt invoice model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Extract custom form fields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Custom document model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Route different form types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Composed model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Extract table data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Layout and table extraction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Extract text from images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OCR pipeline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09 Step 2: Custom Document Model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Document Intelligence and Content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Document: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04288"/>
            <a:ext cx="10378440" cy="2423160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450592"/>
            <a:ext cx="9976104" cy="21671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onsolas"/>
              </a:rPr>
              <a:t>Document types
Sample count
Fields to extract
Labels
Training split
Evaluation metric
Publish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09 Step 3: Content Understanding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Document Intelligence and Content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Explain extraction from: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276856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Documents.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706624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15768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Images.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136391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45535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Video.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3566159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75303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Audio.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005071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Include summarization, classification, attributes, entities, tables, and images.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09 Step 4: Human Review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Document Intelligence and Content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Define confidence thresholds and when extracted data requires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09 Step 5: Integration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Document Intelligence and Content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Draw: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04288"/>
            <a:ext cx="10378440" cy="749808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450592"/>
            <a:ext cx="9976104" cy="49377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onsolas"/>
              </a:rPr>
              <a:t>Upload content -&gt; extract text/entities/tables -&gt; validate -&gt; store structured data -&gt; search/report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09: Validation and Checkpoints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You should have scenario mapping, custom model plan, content understanding plan, review rules, and integration flow.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When should you use a prebuilt model?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What is a composed model?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Why are confidence scores useful?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What content types can Content Understanding process?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10: AI-102 Capstone and Course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Main topic: Integrated review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Scenario: You must design a production-ready customer support AI platform that supports grounded chat, document search, sentiment analysis, speech transcription, image OCR, document extraction, and human escalation.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Validation: You should have a service map, architecture diagram, governance checklist, confidence matrix, cleanup plan, and review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WHAT YOU WILL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10: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Design an end-to-end Azure AI solution.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Map requirements to Microsoft Foundry and Azure AI services.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Include security, monitoring, responsible AI, and cost controls.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Build a personal review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INTEGRATED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10: Imported Reference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ference-lab-10-slide-7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658368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828800"/>
            <a:ext cx="347472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1F6FEB"/>
                </a:solidFill>
                <a:latin typeface="Arial"/>
              </a:rPr>
              <a:t>How to use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377440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Connect the diagram to the lab scenario: You must design a production-ready customer support AI platform that supports grounded chat, document search, ...</a:t>
            </a:r>
          </a:p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Use it as a reference while completing the design steps.</a:t>
            </a:r>
          </a:p>
          <a:p>
            <a:pPr>
              <a:spcAft>
                <a:spcPts val="8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Imported from source PPT slide 716.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FOLLOW IN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10: Step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1. Build a Service Map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2. Draw the Architecture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3. Add Governance Controls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4. Rate Skill Confidence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5. Clean Up Resources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rial"/>
              </a:defRPr>
            </a:pPr>
            <a:r>
              <a:t>6. Create a 7-Day Review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1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10 Step 1: Build a Service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AI-102 Capstone and Course Review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920240"/>
          <a:ext cx="103784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9220"/>
                <a:gridCol w="5189220"/>
              </a:tblGrid>
              <a:tr h="3429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Requirement</a:t>
                      </a:r>
                    </a:p>
                  </a:txBody>
                  <a:tcPr marL="73152" marR="73152" marT="45720" marB="4572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Service</a:t>
                      </a:r>
                    </a:p>
                  </a:txBody>
                  <a:tcPr marL="73152" marR="73152" marT="45720" marB="45720">
                    <a:solidFill>
                      <a:srgbClr val="1F6FE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Grounded assistant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Foundry, Azure OpenAI, prompt flow, RAG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Agent workflow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Foundry Agent Service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Document search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Azure AI Search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Sentiment and PII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Azure AI Language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Speech transcription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Azure AI Speech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Image OCR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Azure AI Vision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Invoice extraction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Document Intelligence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Multi-content extraction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Content Understanding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Safety controls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Content Safety and responsible AI governance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2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10 Step 2: Draw the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AI-102 Capstone and Course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Include: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04288"/>
            <a:ext cx="10378440" cy="2468880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450592"/>
            <a:ext cx="9976104" cy="221284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onsolas"/>
              </a:rPr>
              <a:t>User application
API layer
Foundry project
Model deployment
AI Search index
Storage
Language/Speech/Vision/Document services
Monitoring
Human review queue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3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10 Step 3: Add Governance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AI-102 Capstone and Course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Document: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276856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RBAC.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706624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15768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Managed identity.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136391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45535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Key protection.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3566159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75303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Prompt filters.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995927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05071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Content safety.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4425695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434839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Logging and monitoring.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855463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864607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Budget alerts.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5285231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294375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Data retention.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5714999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724143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Human escalation.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4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10 Step 4: Rate Skill Confidence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AI-102 Capstone and Course Review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920240"/>
          <a:ext cx="10378440" cy="2752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9480"/>
                <a:gridCol w="3459480"/>
                <a:gridCol w="3459480"/>
              </a:tblGrid>
              <a:tr h="3931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Skill Area</a:t>
                      </a:r>
                    </a:p>
                  </a:txBody>
                  <a:tcPr marL="73152" marR="73152" marT="45720" marB="4572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Confidence 1-5</a:t>
                      </a:r>
                    </a:p>
                  </a:txBody>
                  <a:tcPr marL="73152" marR="73152" marT="45720" marB="4572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Study Action</a:t>
                      </a:r>
                    </a:p>
                  </a:txBody>
                  <a:tcPr marL="73152" marR="73152" marT="45720" marB="45720">
                    <a:solidFill>
                      <a:srgbClr val="1F6FE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Plan and manage Azure AI solution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Implement generative AI solutions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Implement agentic solution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Implement computer vision solutions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Implement NLP solutions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Implement knowledge mining and information extraction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5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10 Step 5: Clean Up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AI-102 Capstone and Course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If you created resources: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04288"/>
            <a:ext cx="10378440" cy="749808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450592"/>
            <a:ext cx="9976104" cy="49377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onsolas"/>
              </a:rPr>
              <a:t>az group delete --name rg-ai102-lab --yes --no-wait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10378440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Confirm with your instructor before deleting shared resources.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DETAILED LAB GUIDE | STEP 6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10 Step 6: Create a 7-Day Review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051560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AI-102 Capstone and Course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892808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01952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Day 1: Planning, security, monitoring, responsible AI.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322576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331720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Day 2: Generative AI, prompt flow, RAG.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752344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61487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Day 3: Agents and orchestration.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82111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191255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Day 4: Vision and video.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611879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621023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Day 5: NLP, speech, translation, question answering.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041647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050791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Day 6: AI Search, Document Intelligence, Content Understanding.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71415"/>
            <a:ext cx="18288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700" b="1">
                <a:solidFill>
                  <a:srgbClr val="1F6FEB"/>
                </a:solidFill>
                <a:latin typeface="Arial"/>
              </a:rPr>
              <a:t>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80559"/>
            <a:ext cx="9921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Arial"/>
              </a:rPr>
              <a:t>Day 7: Capstone review and mistakes log.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870448"/>
            <a:ext cx="10378440" cy="3840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971032"/>
            <a:ext cx="100126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Record the required output in your lab notes and verify it before continuing.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Lab 10: Validation and Checkpoints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You should have a service map, architecture diagram, governance checklist, confidence matrix, cleanup plan, and review plan.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Which service should power grounded document search?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When should a human review AI output?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What is the difference between RAG and fine-tuning?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Arial"/>
              </a:defRPr>
            </a:pPr>
            <a:r>
              <a:t>Which AI workload do you need to review most?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COURSE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51760"/>
            <a:ext cx="10058400" cy="10058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3900" b="1">
                <a:solidFill>
                  <a:srgbClr val="111827"/>
                </a:solidFill>
                <a:latin typeface="Arial"/>
              </a:rPr>
              <a:t>Assessment and 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PRACTICE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Take the Online AI-102 Practice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84831"/>
            <a:ext cx="182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103120"/>
            <a:ext cx="4343400" cy="42062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60" b="0">
                <a:solidFill>
                  <a:srgbClr val="111827"/>
                </a:solidFill>
                <a:latin typeface="Arial"/>
              </a:rPr>
              <a:t>Go to the Tertiary Exams portal and open the matching AI-102 Practice Exam.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43200"/>
            <a:ext cx="182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761488"/>
            <a:ext cx="4343400" cy="42062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60" b="0">
                <a:solidFill>
                  <a:srgbClr val="111827"/>
                </a:solidFill>
                <a:latin typeface="Arial"/>
              </a:rPr>
              <a:t>Use the practice set to test Azure AI planning, Azure OpenAI, search, vision, language and document intelligence.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401568"/>
            <a:ext cx="182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3419856"/>
            <a:ext cx="4343400" cy="42062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60" b="0">
                <a:solidFill>
                  <a:srgbClr val="111827"/>
                </a:solidFill>
                <a:latin typeface="Arial"/>
              </a:rPr>
              <a:t>Review mode lets you check the answer and revisit the concept after each question.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059935"/>
            <a:ext cx="182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4078223"/>
            <a:ext cx="4343400" cy="42062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60" b="0">
                <a:solidFill>
                  <a:srgbClr val="111827"/>
                </a:solidFill>
                <a:latin typeface="Arial"/>
              </a:rPr>
              <a:t>Complete the practice exam before assessment, then bring difficult items to the review session.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800600"/>
            <a:ext cx="42062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Arial"/>
              </a:rPr>
              <a:t>Practice exam link: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102352"/>
            <a:ext cx="448056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  <a:hlinkClick r:id="rId2"/>
              </a:rPr>
              <a:t>https://exams.tertiaryinfotech.com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05272" y="2194560"/>
            <a:ext cx="5897880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60720" y="2350008"/>
            <a:ext cx="219456" cy="21945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33872" y="2404872"/>
            <a:ext cx="54864" cy="7315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2386584"/>
            <a:ext cx="1554480" cy="16459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700" b="1">
                <a:solidFill>
                  <a:srgbClr val="111827"/>
                </a:solidFill>
                <a:latin typeface="Arial"/>
              </a:rPr>
              <a:t>Tertiary Exams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386584"/>
            <a:ext cx="1051560" cy="16459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600" b="0">
                <a:solidFill>
                  <a:srgbClr val="111827"/>
                </a:solidFill>
                <a:latin typeface="Arial"/>
              </a:rPr>
              <a:t>Practice Exams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2386584"/>
            <a:ext cx="731520" cy="16459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600" b="0">
                <a:solidFill>
                  <a:srgbClr val="111827"/>
                </a:solidFill>
                <a:latin typeface="Arial"/>
              </a:rPr>
              <a:t>About 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2386584"/>
            <a:ext cx="457200" cy="16459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600" b="0">
                <a:solidFill>
                  <a:srgbClr val="111827"/>
                </a:solidFill>
                <a:latin typeface="Arial"/>
              </a:rPr>
              <a:t>Sign 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52760" y="2304288"/>
            <a:ext cx="530352" cy="237744"/>
          </a:xfrm>
          <a:prstGeom prst="round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16768" y="2368296"/>
            <a:ext cx="411480" cy="7315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520" b="1">
                <a:solidFill>
                  <a:srgbClr val="FFFFFF"/>
                </a:solidFill>
                <a:latin typeface="Arial"/>
              </a:rPr>
              <a:t>Get started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25312" y="2788920"/>
            <a:ext cx="3474720" cy="16459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560" b="1">
                <a:solidFill>
                  <a:srgbClr val="1F6FEB"/>
                </a:solidFill>
                <a:latin typeface="Arial"/>
              </a:rPr>
              <a:t>Portal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5312" y="2953512"/>
            <a:ext cx="2926080" cy="16459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680" b="1">
                <a:solidFill>
                  <a:srgbClr val="1F6FEB"/>
                </a:solidFill>
                <a:latin typeface="Arial"/>
              </a:rPr>
              <a:t>exams.tertiaryinfotech.com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25312" y="3182112"/>
            <a:ext cx="34747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1">
                <a:solidFill>
                  <a:srgbClr val="111827"/>
                </a:solidFill>
                <a:latin typeface="Arial"/>
              </a:rPr>
              <a:t>Microsoft Certified Azure AI Engineer Associate AI-102 Training Practice Exam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3511296"/>
            <a:ext cx="338328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650" b="0">
                <a:solidFill>
                  <a:srgbClr val="5B6372"/>
                </a:solidFill>
                <a:latin typeface="Arial"/>
              </a:rPr>
              <a:t>Practice questions for Azure AI engineering, responsible AI, retrieval, agents and multimodal services.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25312" y="3913632"/>
            <a:ext cx="1060704" cy="4937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71616" y="4032504"/>
            <a:ext cx="548640" cy="1097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560" b="1">
                <a:solidFill>
                  <a:srgbClr val="5B6372"/>
                </a:solidFill>
                <a:latin typeface="Arial"/>
              </a:rPr>
              <a:t>MODE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71616" y="4206240"/>
            <a:ext cx="685800" cy="12801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680" b="1">
                <a:solidFill>
                  <a:srgbClr val="111827"/>
                </a:solidFill>
                <a:latin typeface="Arial"/>
              </a:rPr>
              <a:t>Practice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71616" y="4379976"/>
            <a:ext cx="768096" cy="27432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949440" y="3913632"/>
            <a:ext cx="1060704" cy="4937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95744" y="4032504"/>
            <a:ext cx="548640" cy="1097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560" b="1">
                <a:solidFill>
                  <a:srgbClr val="5B6372"/>
                </a:solidFill>
                <a:latin typeface="Arial"/>
              </a:rPr>
              <a:t>FOCUS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4" y="4206240"/>
            <a:ext cx="685800" cy="12801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680" b="1">
                <a:solidFill>
                  <a:srgbClr val="111827"/>
                </a:solidFill>
                <a:latin typeface="Arial"/>
              </a:rPr>
              <a:t>AI-102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95744" y="4379976"/>
            <a:ext cx="768096" cy="27432"/>
          </a:xfrm>
          <a:prstGeom prst="rect">
            <a:avLst/>
          </a:prstGeom>
          <a:solidFill>
            <a:srgbClr val="10B981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19872" y="3913632"/>
            <a:ext cx="1060704" cy="4937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66176" y="4032504"/>
            <a:ext cx="548640" cy="1097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560" b="1">
                <a:solidFill>
                  <a:srgbClr val="5B6372"/>
                </a:solidFill>
                <a:latin typeface="Arial"/>
              </a:rPr>
              <a:t>ACCESS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66176" y="4206240"/>
            <a:ext cx="685800" cy="12801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680" b="1">
                <a:solidFill>
                  <a:srgbClr val="111827"/>
                </a:solidFill>
                <a:latin typeface="Arial"/>
              </a:rPr>
              <a:t>Portal link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66176" y="4379976"/>
            <a:ext cx="768096" cy="27432"/>
          </a:xfrm>
          <a:prstGeom prst="rect">
            <a:avLst/>
          </a:prstGeom>
          <a:solidFill>
            <a:srgbClr val="7C3AED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829800" y="3090672"/>
            <a:ext cx="118872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85248" y="3255264"/>
            <a:ext cx="749808" cy="1097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580" b="1">
                <a:solidFill>
                  <a:srgbClr val="5B6372"/>
                </a:solidFill>
                <a:latin typeface="Arial"/>
              </a:rPr>
              <a:t>PRACTICE DETAIL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85248" y="3493008"/>
            <a:ext cx="877824" cy="51206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530" b="0">
                <a:solidFill>
                  <a:srgbClr val="111827"/>
                </a:solidFill>
                <a:latin typeface="Arial"/>
              </a:rPr>
              <a:t>Exam code AI-102
Use Review
Domains Azure AI
Format Online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25312" y="4645152"/>
            <a:ext cx="17830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71616" y="4800600"/>
            <a:ext cx="1143000" cy="1371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670" b="1">
                <a:solidFill>
                  <a:srgbClr val="111827"/>
                </a:solidFill>
                <a:latin typeface="Arial"/>
              </a:rPr>
              <a:t>Practice mode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71616" y="5010912"/>
            <a:ext cx="1325880" cy="21945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550" b="0">
                <a:solidFill>
                  <a:srgbClr val="5B6372"/>
                </a:solidFill>
                <a:latin typeface="Arial"/>
              </a:rPr>
              <a:t>Check answers while revising each domain.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63840" y="4645152"/>
            <a:ext cx="17830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10144" y="4800600"/>
            <a:ext cx="1143000" cy="1371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670" b="1">
                <a:solidFill>
                  <a:srgbClr val="111827"/>
                </a:solidFill>
                <a:latin typeface="Arial"/>
              </a:rPr>
              <a:t>Review before WA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10144" y="5010912"/>
            <a:ext cx="1325880" cy="21945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550" b="0">
                <a:solidFill>
                  <a:srgbClr val="5B6372"/>
                </a:solidFill>
                <a:latin typeface="Arial"/>
              </a:rPr>
              <a:t>Use missed questions to guide revision.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829800" y="4608576"/>
            <a:ext cx="1188720" cy="8412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85248" y="4764024"/>
            <a:ext cx="804672" cy="1097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580" b="1">
                <a:solidFill>
                  <a:srgbClr val="1F6FEB"/>
                </a:solidFill>
                <a:latin typeface="Arial"/>
              </a:rPr>
              <a:t>Learner tip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85248" y="4992624"/>
            <a:ext cx="822960" cy="21945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550" b="0">
                <a:solidFill>
                  <a:srgbClr val="5B6372"/>
                </a:solidFill>
                <a:latin typeface="Arial"/>
              </a:rPr>
              <a:t>Retake missed items after revision.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Assessment Flow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194560"/>
            <a:ext cx="205740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2359152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87168"/>
            <a:ext cx="146304" cy="16459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2999232"/>
            <a:ext cx="1408176" cy="51206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Arial"/>
              </a:rPr>
              <a:t>TRAQOM digital
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0632" y="2907792"/>
            <a:ext cx="1828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194560"/>
            <a:ext cx="205740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44952" y="235915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487168"/>
            <a:ext cx="146304" cy="16459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9544" y="2999232"/>
            <a:ext cx="1408176" cy="51206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Arial"/>
              </a:rPr>
              <a:t>Assessment digital
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5192" y="2907792"/>
            <a:ext cx="1828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2194560"/>
            <a:ext cx="205740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39512" y="235915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59" y="2487168"/>
            <a:ext cx="146304" cy="16459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4104" y="2999232"/>
            <a:ext cx="1408176" cy="51206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Arial"/>
              </a:rPr>
              <a:t>Sit WA then Case
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9752" y="2907792"/>
            <a:ext cx="1828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79" y="2194560"/>
            <a:ext cx="205740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34071" y="235915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19" y="2487168"/>
            <a:ext cx="146304" cy="16459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98663" y="2999232"/>
            <a:ext cx="1408176" cy="51206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Arial"/>
              </a:rPr>
              <a:t>Submit answers on
the LMS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1" y="2907792"/>
            <a:ext cx="1828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64040" y="2194560"/>
            <a:ext cx="2057400" cy="1719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28632" y="2359152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2487168"/>
            <a:ext cx="146304" cy="16459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93224" y="2999232"/>
            <a:ext cx="1408176" cy="51206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Arial"/>
              </a:rPr>
              <a:t>Sign Assessment
Summary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4937760"/>
            <a:ext cx="7955279" cy="3291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300" b="0">
                <a:solidFill>
                  <a:srgbClr val="5B6372"/>
                </a:solidFill>
                <a:latin typeface="Arial"/>
              </a:rPr>
              <a:t>The TRAQOM QR code and LMS submission are both handled through the LMS/TMS portal.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BEFORE YOU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Certification and TRAQOM Survey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Complete the certification and TRAQOM survey to receive your certificate.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Remember AM, PM and assessment digital attendance.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Contact support if you need help after class.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09728" cy="566928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6070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AFTER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6692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18288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Email: enquiry@tertiaryinfotech.com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Tel: +65 6100 0613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Arial"/>
              </a:defRPr>
            </a:pPr>
            <a:r>
              <a:t>Website: www.tertiarycourses.com.sg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CONGRATULATIONS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51760"/>
            <a:ext cx="10058400" cy="10058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3900" b="1">
                <a:solidFill>
                  <a:srgbClr val="111827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886200"/>
            <a:ext cx="1005840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600" b="0">
                <a:solidFill>
                  <a:srgbClr val="5B6372"/>
                </a:solidFill>
                <a:latin typeface="Arial"/>
              </a:rPr>
              <a:t>You have designed an end-to-end Azure AI engineering solution.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| TGS-2023036651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Copyright 2026 Tertiary Infotech Academy Pte Ltd.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850" b="1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